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</p:sldIdLst>
  <p:sldSz cx="14630400" cy="8229600"/>
  <p:notesSz cx="8229600" cy="14630400"/>
  <p:embeddedFontLst>
    <p:embeddedFont>
      <p:font typeface="Instrument Sans Medium" panose="020B0604020202020204" charset="0"/>
      <p:regular r:id="rId12"/>
    </p:embeddedFont>
    <p:embeddedFont>
      <p:font typeface="Inter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3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857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71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71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71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71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71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71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71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71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71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71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71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236279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CarbonHub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11736"/>
            <a:ext cx="130428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 Intelligent Portfolio Optimization Tool Leveraging Machine Learning for Carbon-Conscious Investments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48858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By: Devansh Shahane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50390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Guide: Dr. Hemant Kasturiwale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523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Problem Statement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719024"/>
            <a:ext cx="130428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Challenge in Sustainable Investing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793790" y="4140398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FDC4C4"/>
          </a:solidFill>
          <a:ln/>
        </p:spPr>
      </p:sp>
      <p:sp>
        <p:nvSpPr>
          <p:cNvPr id="5" name="Text 3"/>
          <p:cNvSpPr/>
          <p:nvPr/>
        </p:nvSpPr>
        <p:spPr>
          <a:xfrm>
            <a:off x="1133951" y="4015621"/>
            <a:ext cx="603944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Growing demand for </a:t>
            </a: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sustainable investments</a:t>
            </a: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ESG integration</a:t>
            </a: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56884" y="4140398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FDC4C4"/>
          </a:solidFill>
          <a:ln/>
        </p:spPr>
      </p:sp>
      <p:sp>
        <p:nvSpPr>
          <p:cNvPr id="7" name="Text 5"/>
          <p:cNvSpPr/>
          <p:nvPr/>
        </p:nvSpPr>
        <p:spPr>
          <a:xfrm>
            <a:off x="7797046" y="4015621"/>
            <a:ext cx="603956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portfolio optimization focuses </a:t>
            </a: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</a:t>
            </a: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risk &amp; return, </a:t>
            </a: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ignoring environmental impact</a:t>
            </a: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5319832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FDC4C4"/>
          </a:solidFill>
          <a:ln/>
        </p:spPr>
      </p:sp>
      <p:sp>
        <p:nvSpPr>
          <p:cNvPr id="9" name="Text 7"/>
          <p:cNvSpPr/>
          <p:nvPr/>
        </p:nvSpPr>
        <p:spPr>
          <a:xfrm>
            <a:off x="1133951" y="5195054"/>
            <a:ext cx="6039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Investors lack tools to: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133951" y="5694045"/>
            <a:ext cx="6039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 portfolios considering </a:t>
            </a: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carbon footprint</a:t>
            </a: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133951" y="6136243"/>
            <a:ext cx="6039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</a:t>
            </a: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ESG metrics</a:t>
            </a: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into decision-making.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133951" y="6578441"/>
            <a:ext cx="603944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 </a:t>
            </a: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multi-objective balance</a:t>
            </a: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returns, risk, and sustainability.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56884" y="5319832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FDC4C4"/>
          </a:solidFill>
          <a:ln/>
        </p:spPr>
      </p:sp>
      <p:sp>
        <p:nvSpPr>
          <p:cNvPr id="14" name="Text 12"/>
          <p:cNvSpPr/>
          <p:nvPr/>
        </p:nvSpPr>
        <p:spPr>
          <a:xfrm>
            <a:off x="7797046" y="5195054"/>
            <a:ext cx="603956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analysis is time-consuming, error-prone, and not scalable.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0308" y="441246"/>
            <a:ext cx="3202186" cy="400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Objectives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0308" y="1001554"/>
            <a:ext cx="5523905" cy="69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Primary Goals</a:t>
            </a:r>
            <a:endParaRPr lang="en-US" sz="4300" dirty="0"/>
          </a:p>
        </p:txBody>
      </p:sp>
      <p:sp>
        <p:nvSpPr>
          <p:cNvPr id="4" name="Shape 2"/>
          <p:cNvSpPr/>
          <p:nvPr/>
        </p:nvSpPr>
        <p:spPr>
          <a:xfrm>
            <a:off x="560308" y="1932265"/>
            <a:ext cx="360164" cy="360164"/>
          </a:xfrm>
          <a:prstGeom prst="roundRect">
            <a:avLst>
              <a:gd name="adj" fmla="val 6668"/>
            </a:avLst>
          </a:prstGeom>
          <a:solidFill>
            <a:srgbClr val="363633"/>
          </a:solidFill>
          <a:ln/>
        </p:spPr>
      </p:sp>
      <p:sp>
        <p:nvSpPr>
          <p:cNvPr id="5" name="Text 3"/>
          <p:cNvSpPr/>
          <p:nvPr/>
        </p:nvSpPr>
        <p:spPr>
          <a:xfrm>
            <a:off x="620256" y="1962210"/>
            <a:ext cx="240149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080492" y="1987272"/>
            <a:ext cx="2593181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 an AI-powered tool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80492" y="2333387"/>
            <a:ext cx="12989600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portfolio optimization incorporating carbon footprint &amp; ESG scores.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0308" y="2909768"/>
            <a:ext cx="360164" cy="360164"/>
          </a:xfrm>
          <a:prstGeom prst="roundRect">
            <a:avLst>
              <a:gd name="adj" fmla="val 6668"/>
            </a:avLst>
          </a:prstGeom>
          <a:solidFill>
            <a:srgbClr val="363633"/>
          </a:solidFill>
          <a:ln/>
        </p:spPr>
      </p:sp>
      <p:sp>
        <p:nvSpPr>
          <p:cNvPr id="9" name="Text 7"/>
          <p:cNvSpPr/>
          <p:nvPr/>
        </p:nvSpPr>
        <p:spPr>
          <a:xfrm>
            <a:off x="620256" y="2939713"/>
            <a:ext cx="240149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080492" y="2964775"/>
            <a:ext cx="3278862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Integrate Machine Learning models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80492" y="3310890"/>
            <a:ext cx="12989600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return prediction and ESG impact analysis.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0308" y="3887272"/>
            <a:ext cx="360164" cy="360164"/>
          </a:xfrm>
          <a:prstGeom prst="roundRect">
            <a:avLst>
              <a:gd name="adj" fmla="val 6668"/>
            </a:avLst>
          </a:prstGeom>
          <a:solidFill>
            <a:srgbClr val="363633"/>
          </a:solidFill>
          <a:ln/>
        </p:spPr>
      </p:sp>
      <p:sp>
        <p:nvSpPr>
          <p:cNvPr id="13" name="Text 11"/>
          <p:cNvSpPr/>
          <p:nvPr/>
        </p:nvSpPr>
        <p:spPr>
          <a:xfrm>
            <a:off x="620256" y="3917216"/>
            <a:ext cx="240149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080492" y="3942278"/>
            <a:ext cx="3314819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Enable multi-objective optimization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80492" y="4288393"/>
            <a:ext cx="12989600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balancing: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80492" y="4640580"/>
            <a:ext cx="12989600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Return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80492" y="4952762"/>
            <a:ext cx="12989600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(Volatility)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80492" y="5264944"/>
            <a:ext cx="12989600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Carbon Reduction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80492" y="5577126"/>
            <a:ext cx="12989600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ESG Score Improvement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0308" y="6153507"/>
            <a:ext cx="360164" cy="360164"/>
          </a:xfrm>
          <a:prstGeom prst="roundRect">
            <a:avLst>
              <a:gd name="adj" fmla="val 6668"/>
            </a:avLst>
          </a:prstGeom>
          <a:solidFill>
            <a:srgbClr val="363633"/>
          </a:solidFill>
          <a:ln/>
        </p:spPr>
      </p:sp>
      <p:sp>
        <p:nvSpPr>
          <p:cNvPr id="21" name="Text 19"/>
          <p:cNvSpPr/>
          <p:nvPr/>
        </p:nvSpPr>
        <p:spPr>
          <a:xfrm>
            <a:off x="620256" y="6183451"/>
            <a:ext cx="240149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080492" y="6208514"/>
            <a:ext cx="2412921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Provide visual dashboards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80492" y="6554629"/>
            <a:ext cx="12989600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allocation, efficient frontier, and performance comparison.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0308" y="7131010"/>
            <a:ext cx="360164" cy="360164"/>
          </a:xfrm>
          <a:prstGeom prst="roundRect">
            <a:avLst>
              <a:gd name="adj" fmla="val 6668"/>
            </a:avLst>
          </a:prstGeom>
          <a:solidFill>
            <a:srgbClr val="363633"/>
          </a:solidFill>
          <a:ln/>
        </p:spPr>
      </p:sp>
      <p:sp>
        <p:nvSpPr>
          <p:cNvPr id="25" name="Text 23"/>
          <p:cNvSpPr/>
          <p:nvPr/>
        </p:nvSpPr>
        <p:spPr>
          <a:xfrm>
            <a:off x="620256" y="7160955"/>
            <a:ext cx="240149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1080492" y="7186017"/>
            <a:ext cx="2250519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Enable scenario analysis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080492" y="7532132"/>
            <a:ext cx="12989600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different risk tolerances &amp; carbon reduction targets.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877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Tools &amp; Technologies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657713"/>
            <a:ext cx="33463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Programming Languages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3885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(Backend, ML models)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68105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 (Frontend UI / Visualization)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270772"/>
            <a:ext cx="35498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Machine Learning Libraries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85191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Scikit-learn</a:t>
            </a: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Model training &amp; evaluation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29411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 / NumPy</a:t>
            </a: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Data processing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73631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Matplotlib / Plotly</a:t>
            </a: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Visualization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17851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PyPortfolioOpt</a:t>
            </a: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Portfolio optimization algorithms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2657713"/>
            <a:ext cx="39969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Web / Dashboard Frameworks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99521" y="323885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</a:t>
            </a: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Interactive dashboards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368105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Chart.js</a:t>
            </a: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Client-side charts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42707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Sources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99521" y="485191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stock prices (Yahoo Finance API)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99521" y="529411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ESG data providers (MSCI, Refinitiv, etc.)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99521" y="573631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Carbon footprint data from verified registries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329" y="422196"/>
            <a:ext cx="5288399" cy="479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System Architecture Diagram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724043" y="1270397"/>
            <a:ext cx="9376648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7329" y="9038511"/>
            <a:ext cx="3838813" cy="479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endParaRPr lang="en-US" sz="3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0FE1ED-23E6-EC3A-8858-1A510F380A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24" b="3395"/>
          <a:stretch>
            <a:fillRect/>
          </a:stretch>
        </p:blipFill>
        <p:spPr>
          <a:xfrm>
            <a:off x="8387451" y="422196"/>
            <a:ext cx="4129336" cy="75254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E81BE1-9338-D689-E94A-FF6FC564038F}"/>
              </a:ext>
            </a:extLst>
          </p:cNvPr>
          <p:cNvSpPr txBox="1"/>
          <p:nvPr/>
        </p:nvSpPr>
        <p:spPr>
          <a:xfrm>
            <a:off x="529709" y="1108153"/>
            <a:ext cx="7397646" cy="6812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IN" b="1" dirty="0">
                <a:solidFill>
                  <a:schemeClr val="bg1"/>
                </a:solidFill>
              </a:rPr>
              <a:t>User Input Validation</a:t>
            </a:r>
            <a:r>
              <a:rPr lang="en-IN" dirty="0">
                <a:solidFill>
                  <a:schemeClr val="bg1"/>
                </a:solidFill>
              </a:rPr>
              <a:t> – Captures and verifies investment parameters: amount, risk tolerance, carbon target, ESG weight, and time horizon.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endParaRPr lang="en-IN" sz="400" dirty="0">
              <a:solidFill>
                <a:schemeClr val="bg1"/>
              </a:solidFill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IN" b="1" dirty="0">
                <a:solidFill>
                  <a:schemeClr val="bg1"/>
                </a:solidFill>
              </a:rPr>
              <a:t>Data Sources</a:t>
            </a:r>
            <a:endParaRPr lang="en-IN" dirty="0">
              <a:solidFill>
                <a:schemeClr val="bg1"/>
              </a:solidFill>
            </a:endParaRP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en-IN" b="1" dirty="0">
                <a:solidFill>
                  <a:schemeClr val="bg1"/>
                </a:solidFill>
              </a:rPr>
              <a:t>DS1</a:t>
            </a:r>
            <a:r>
              <a:rPr lang="en-IN" dirty="0">
                <a:solidFill>
                  <a:schemeClr val="bg1"/>
                </a:solidFill>
              </a:rPr>
              <a:t>: Historical financial data for price, return, and risk analysis.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en-IN" b="1" dirty="0">
                <a:solidFill>
                  <a:schemeClr val="bg1"/>
                </a:solidFill>
              </a:rPr>
              <a:t>ESG Data Providers</a:t>
            </a:r>
            <a:r>
              <a:rPr lang="en-IN" dirty="0">
                <a:solidFill>
                  <a:schemeClr val="bg1"/>
                </a:solidFill>
              </a:rPr>
              <a:t>: ESG scores from verified agencies.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lang="en-IN" b="1" dirty="0">
                <a:solidFill>
                  <a:schemeClr val="bg1"/>
                </a:solidFill>
              </a:rPr>
              <a:t>Carbon Registries / Environmental Databases</a:t>
            </a:r>
            <a:r>
              <a:rPr lang="en-IN" dirty="0">
                <a:solidFill>
                  <a:schemeClr val="bg1"/>
                </a:solidFill>
              </a:rPr>
              <a:t>: Carbon footprint metrics for assets.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endParaRPr lang="en-IN" sz="100" dirty="0">
              <a:solidFill>
                <a:schemeClr val="bg1"/>
              </a:solidFill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IN" b="1" dirty="0">
                <a:solidFill>
                  <a:schemeClr val="bg1"/>
                </a:solidFill>
              </a:rPr>
              <a:t>Data Integration &amp; Preprocessing</a:t>
            </a:r>
            <a:r>
              <a:rPr lang="en-IN" dirty="0">
                <a:solidFill>
                  <a:schemeClr val="bg1"/>
                </a:solidFill>
              </a:rPr>
              <a:t> – Merges financial, ESG, and carbon data to enhance prediction accuracy.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endParaRPr lang="en-IN" sz="400" dirty="0">
              <a:solidFill>
                <a:schemeClr val="bg1"/>
              </a:solidFill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IN" b="1" dirty="0">
                <a:solidFill>
                  <a:schemeClr val="bg1"/>
                </a:solidFill>
              </a:rPr>
              <a:t>ML Module</a:t>
            </a:r>
            <a:r>
              <a:rPr lang="en-IN" dirty="0">
                <a:solidFill>
                  <a:schemeClr val="bg1"/>
                </a:solidFill>
              </a:rPr>
              <a:t> – Predicts expected returns and volatility using historical data and enhanced ESG-carbon metrics.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endParaRPr lang="en-IN" sz="400" dirty="0">
              <a:solidFill>
                <a:schemeClr val="bg1"/>
              </a:solidFill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IN" b="1" dirty="0">
                <a:solidFill>
                  <a:schemeClr val="bg1"/>
                </a:solidFill>
              </a:rPr>
              <a:t>Optimization Engine</a:t>
            </a:r>
            <a:r>
              <a:rPr lang="en-IN" dirty="0">
                <a:solidFill>
                  <a:schemeClr val="bg1"/>
                </a:solidFill>
              </a:rPr>
              <a:t> – Applies multi-objective optimization to balance return, risk, ESG score, and carbon reduction.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endParaRPr lang="en-IN" sz="700" dirty="0">
              <a:solidFill>
                <a:schemeClr val="bg1"/>
              </a:solidFill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IN" b="1" dirty="0">
                <a:solidFill>
                  <a:schemeClr val="bg1"/>
                </a:solidFill>
              </a:rPr>
              <a:t>Portfolio Weight Allocation</a:t>
            </a:r>
            <a:r>
              <a:rPr lang="en-IN" dirty="0">
                <a:solidFill>
                  <a:schemeClr val="bg1"/>
                </a:solidFill>
              </a:rPr>
              <a:t> – Determines optimal asset weights for the investment portfolio.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endParaRPr lang="en-IN" sz="300" dirty="0">
              <a:solidFill>
                <a:schemeClr val="bg1"/>
              </a:solidFill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IN" b="1" dirty="0">
                <a:solidFill>
                  <a:schemeClr val="bg1"/>
                </a:solidFill>
              </a:rPr>
              <a:t>Visualization Layer</a:t>
            </a:r>
            <a:r>
              <a:rPr lang="en-IN" dirty="0">
                <a:solidFill>
                  <a:schemeClr val="bg1"/>
                </a:solidFill>
              </a:rPr>
              <a:t> – Uses Chart.js / </a:t>
            </a:r>
            <a:r>
              <a:rPr lang="en-IN" dirty="0" err="1">
                <a:solidFill>
                  <a:schemeClr val="bg1"/>
                </a:solidFill>
              </a:rPr>
              <a:t>Plotly</a:t>
            </a:r>
            <a:r>
              <a:rPr lang="en-IN" dirty="0">
                <a:solidFill>
                  <a:schemeClr val="bg1"/>
                </a:solidFill>
              </a:rPr>
              <a:t> for displaying allocation, efficient frontier, and performance comparison.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endParaRPr lang="en-IN" sz="200" dirty="0">
              <a:solidFill>
                <a:schemeClr val="bg1"/>
              </a:solidFill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IN" b="1" dirty="0">
                <a:solidFill>
                  <a:schemeClr val="bg1"/>
                </a:solidFill>
              </a:rPr>
              <a:t>User Interaction Loop</a:t>
            </a:r>
            <a:r>
              <a:rPr lang="en-IN" dirty="0">
                <a:solidFill>
                  <a:schemeClr val="bg1"/>
                </a:solidFill>
              </a:rPr>
              <a:t> – Allows users to review results, adjust parameters, and re-run optimization until satisfied.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185" y="416957"/>
            <a:ext cx="3787378" cy="473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Workflow Diagram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85" y="1095748"/>
            <a:ext cx="3142405" cy="67167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185" y="7339132"/>
            <a:ext cx="3787378" cy="473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endParaRPr lang="en-US" sz="29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BC31F8-ACA7-025A-8DA3-6980A2BF3C3D}"/>
              </a:ext>
            </a:extLst>
          </p:cNvPr>
          <p:cNvSpPr txBox="1"/>
          <p:nvPr/>
        </p:nvSpPr>
        <p:spPr>
          <a:xfrm>
            <a:off x="4474564" y="1897722"/>
            <a:ext cx="9625651" cy="4406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ts val="150"/>
              </a:spcBef>
              <a:spcAft>
                <a:spcPts val="150"/>
              </a:spcAft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User Inputs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– Investment amount, risk tolerance, carbon reduction target, ESG weight, and investment horizon.</a:t>
            </a:r>
          </a:p>
          <a:p>
            <a:pPr lvl="0" eaLnBrk="0" fontAlgn="base" hangingPunct="0">
              <a:spcBef>
                <a:spcPts val="150"/>
              </a:spcBef>
              <a:spcAft>
                <a:spcPts val="150"/>
              </a:spcAft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Data Retrieval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– Collects asset prices, ESG scores, and carbon metrics from financial datasets.</a:t>
            </a:r>
          </a:p>
          <a:p>
            <a:pPr lvl="0" eaLnBrk="0" fontAlgn="base" hangingPunct="0">
              <a:spcBef>
                <a:spcPts val="150"/>
              </a:spcBef>
              <a:spcAft>
                <a:spcPts val="150"/>
              </a:spcAft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Preprocessing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– Cleans, normalizes, and merges data to prepare it for analysis.</a:t>
            </a:r>
          </a:p>
          <a:p>
            <a:pPr lvl="0" eaLnBrk="0" fontAlgn="base" hangingPunct="0">
              <a:spcBef>
                <a:spcPts val="150"/>
              </a:spcBef>
              <a:spcAft>
                <a:spcPts val="150"/>
              </a:spcAft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ML Prediction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– Estimates expected return and volatility for each asset using machine learning models.</a:t>
            </a:r>
          </a:p>
          <a:p>
            <a:pPr lvl="0" eaLnBrk="0" fontAlgn="base" hangingPunct="0">
              <a:spcBef>
                <a:spcPts val="150"/>
              </a:spcBef>
              <a:spcAft>
                <a:spcPts val="150"/>
              </a:spcAft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Attach ESG &amp; Carbon Data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– Links environmental and carbon footprint data to each asset.</a:t>
            </a:r>
          </a:p>
          <a:p>
            <a:pPr lvl="0" eaLnBrk="0" fontAlgn="base" hangingPunct="0">
              <a:spcBef>
                <a:spcPts val="150"/>
              </a:spcBef>
              <a:spcAft>
                <a:spcPts val="150"/>
              </a:spcAft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Multi-Objective Optimization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– Balances return, risk, ESG score, and carbon reduction goals.</a:t>
            </a:r>
          </a:p>
          <a:p>
            <a:pPr lvl="0" eaLnBrk="0" fontAlgn="base" hangingPunct="0">
              <a:spcBef>
                <a:spcPts val="150"/>
              </a:spcBef>
              <a:spcAft>
                <a:spcPts val="150"/>
              </a:spcAft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Portfolio Weights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– Determines the optimal allocation for the portfolio.</a:t>
            </a:r>
          </a:p>
          <a:p>
            <a:pPr lvl="0" eaLnBrk="0" fontAlgn="base" hangingPunct="0">
              <a:spcBef>
                <a:spcPts val="150"/>
              </a:spcBef>
              <a:spcAft>
                <a:spcPts val="150"/>
              </a:spcAft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Visualization &amp; Reports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– Displays allocations, efficient frontier, and portfolio comparison.</a:t>
            </a:r>
          </a:p>
          <a:p>
            <a:pPr lvl="0" eaLnBrk="0" fontAlgn="base" hangingPunct="0">
              <a:spcBef>
                <a:spcPts val="150"/>
              </a:spcBef>
              <a:spcAft>
                <a:spcPts val="150"/>
              </a:spcAft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User Review Loop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– Allows parameter adjustments for re-optimization before finalizing.</a:t>
            </a:r>
          </a:p>
          <a:p>
            <a:endParaRPr lang="en-IN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F6768C1-0394-F70D-7966-0BE9ABBC7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191" y="603647"/>
            <a:ext cx="10528459" cy="685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Module Division (Phase-wise Breakdown)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768191" y="1728549"/>
            <a:ext cx="13094018" cy="5901690"/>
          </a:xfrm>
          <a:prstGeom prst="roundRect">
            <a:avLst>
              <a:gd name="adj" fmla="val 55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5811" y="1736169"/>
            <a:ext cx="13078778" cy="98107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5363" y="1875473"/>
            <a:ext cx="1519118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960965" y="1875473"/>
            <a:ext cx="3519845" cy="3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Onboarding &amp; Risk Profiling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538442" y="1875473"/>
            <a:ext cx="6096714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registration, financial goal setting, and assessment of risk tolerance.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5811" y="2717244"/>
            <a:ext cx="13078778" cy="98107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95363" y="2856547"/>
            <a:ext cx="1519118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960965" y="2856547"/>
            <a:ext cx="4130993" cy="686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Integration (Market + Sentiment APIs)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7538442" y="2856547"/>
            <a:ext cx="6096714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Gathering historical market data, ESG scores, carbon footprint metrics, and sentiment data from various APIs.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5811" y="3698319"/>
            <a:ext cx="13078778" cy="98107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95363" y="3837623"/>
            <a:ext cx="1519118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60965" y="3837623"/>
            <a:ext cx="4130993" cy="686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Portfolio Recommendation Engine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7538442" y="3837623"/>
            <a:ext cx="6096714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and implementation of ML models for return prediction and multi-objective optimization.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75811" y="4679394"/>
            <a:ext cx="13078778" cy="98107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95363" y="4818698"/>
            <a:ext cx="1519118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960965" y="4818698"/>
            <a:ext cx="4047887" cy="3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Virtual Trading &amp; SIP Simulation</a:t>
            </a:r>
            <a:endParaRPr lang="en-US" sz="2150" dirty="0"/>
          </a:p>
        </p:txBody>
      </p:sp>
      <p:sp>
        <p:nvSpPr>
          <p:cNvPr id="19" name="Text 17"/>
          <p:cNvSpPr/>
          <p:nvPr/>
        </p:nvSpPr>
        <p:spPr>
          <a:xfrm>
            <a:off x="7538442" y="4818698"/>
            <a:ext cx="6096714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Enabling users to simulate investment strategies and analyze performance in a risk-free environment.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75811" y="5660469"/>
            <a:ext cx="13078778" cy="98107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95363" y="5799773"/>
            <a:ext cx="1519118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960965" y="5799773"/>
            <a:ext cx="4130993" cy="686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Explainability Layer for Recommendations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7538442" y="5799773"/>
            <a:ext cx="6096714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a transparent system to show the reasoning behind portfolio suggestions.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75811" y="6641544"/>
            <a:ext cx="13078778" cy="98107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95363" y="6780847"/>
            <a:ext cx="1519118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6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2960965" y="6780847"/>
            <a:ext cx="4130993" cy="686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Testing, Operations &amp; Deployment</a:t>
            </a:r>
            <a:endParaRPr lang="en-US" sz="2150" dirty="0"/>
          </a:p>
        </p:txBody>
      </p:sp>
      <p:sp>
        <p:nvSpPr>
          <p:cNvPr id="27" name="Text 25"/>
          <p:cNvSpPr/>
          <p:nvPr/>
        </p:nvSpPr>
        <p:spPr>
          <a:xfrm>
            <a:off x="7538442" y="6780847"/>
            <a:ext cx="6096714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Rigorous testing, infrastructure setup, and deployment of the CarbonOpti tool.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2769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Expected Outcomes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93790" y="1449824"/>
            <a:ext cx="7556421" cy="1367909"/>
          </a:xfrm>
          <a:prstGeom prst="roundRect">
            <a:avLst>
              <a:gd name="adj" fmla="val 10695"/>
            </a:avLst>
          </a:prstGeom>
          <a:solidFill>
            <a:srgbClr val="171714"/>
          </a:solidFill>
          <a:ln w="30480">
            <a:solidFill>
              <a:srgbClr val="4F4F4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3310" y="1449824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</p:sp>
      <p:sp>
        <p:nvSpPr>
          <p:cNvPr id="6" name="Text 3"/>
          <p:cNvSpPr/>
          <p:nvPr/>
        </p:nvSpPr>
        <p:spPr>
          <a:xfrm>
            <a:off x="1142524" y="1707118"/>
            <a:ext cx="41100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Improved investment decisions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2524" y="2197537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environmental impact awareness.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3044547"/>
            <a:ext cx="7556421" cy="1367909"/>
          </a:xfrm>
          <a:prstGeom prst="roundRect">
            <a:avLst>
              <a:gd name="adj" fmla="val 10695"/>
            </a:avLst>
          </a:prstGeom>
          <a:solidFill>
            <a:srgbClr val="171714"/>
          </a:solidFill>
          <a:ln w="30480">
            <a:solidFill>
              <a:srgbClr val="4F4F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3310" y="3044547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</p:sp>
      <p:sp>
        <p:nvSpPr>
          <p:cNvPr id="10" name="Text 7"/>
          <p:cNvSpPr/>
          <p:nvPr/>
        </p:nvSpPr>
        <p:spPr>
          <a:xfrm>
            <a:off x="1142524" y="3301841"/>
            <a:ext cx="36631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Achieve balanced portfolios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42524" y="3792260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 return and carbon reduction goals.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4639270"/>
            <a:ext cx="7556421" cy="1367909"/>
          </a:xfrm>
          <a:prstGeom prst="roundRect">
            <a:avLst>
              <a:gd name="adj" fmla="val 10695"/>
            </a:avLst>
          </a:prstGeom>
          <a:solidFill>
            <a:srgbClr val="171714"/>
          </a:solidFill>
          <a:ln w="30480">
            <a:solidFill>
              <a:srgbClr val="4F4F4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3310" y="4639270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</p:sp>
      <p:sp>
        <p:nvSpPr>
          <p:cNvPr id="14" name="Text 11"/>
          <p:cNvSpPr/>
          <p:nvPr/>
        </p:nvSpPr>
        <p:spPr>
          <a:xfrm>
            <a:off x="1142524" y="4896564"/>
            <a:ext cx="50326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Provide clear, interactive visualizations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42524" y="5386983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investors.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93790" y="6233993"/>
            <a:ext cx="7556421" cy="1367909"/>
          </a:xfrm>
          <a:prstGeom prst="roundRect">
            <a:avLst>
              <a:gd name="adj" fmla="val 10695"/>
            </a:avLst>
          </a:prstGeom>
          <a:solidFill>
            <a:srgbClr val="171714"/>
          </a:solidFill>
          <a:ln w="30480">
            <a:solidFill>
              <a:srgbClr val="4F4F4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3310" y="6233993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</p:sp>
      <p:sp>
        <p:nvSpPr>
          <p:cNvPr id="18" name="Text 15"/>
          <p:cNvSpPr/>
          <p:nvPr/>
        </p:nvSpPr>
        <p:spPr>
          <a:xfrm>
            <a:off x="1142524" y="6491288"/>
            <a:ext cx="30496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Scalable and adaptable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142524" y="6981706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different asset classes and geographies.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9877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Conclusion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361938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6363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3661886"/>
            <a:ext cx="340162" cy="425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3697248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Combines AI + Sustainable Finance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4541996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next-generation investment tools.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35893" y="361938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6363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0963" y="3661886"/>
            <a:ext cx="340162" cy="4252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73008" y="3697248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Addresses both financial performance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973008" y="4541996"/>
            <a:ext cx="34214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climate responsibility.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77995" y="361938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6363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3065" y="3661886"/>
            <a:ext cx="340162" cy="4252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15111" y="3697248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Potential for future expansion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415111" y="4541996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into blockchain-based carbon credit integration or automated ESG scoring.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771</Words>
  <Application>Microsoft Office PowerPoint</Application>
  <PresentationFormat>Custom</PresentationFormat>
  <Paragraphs>123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Instrument Sans Medium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Devansh Shahane</cp:lastModifiedBy>
  <cp:revision>2</cp:revision>
  <dcterms:created xsi:type="dcterms:W3CDTF">2025-08-12T03:44:31Z</dcterms:created>
  <dcterms:modified xsi:type="dcterms:W3CDTF">2025-08-12T03:51:39Z</dcterms:modified>
</cp:coreProperties>
</file>